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0" r:id="rId3"/>
    <p:sldId id="263" r:id="rId4"/>
    <p:sldId id="261" r:id="rId5"/>
    <p:sldId id="262" r:id="rId6"/>
    <p:sldId id="257" r:id="rId7"/>
    <p:sldId id="258" r:id="rId8"/>
    <p:sldId id="259"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46" d="100"/>
          <a:sy n="46" d="100"/>
        </p:scale>
        <p:origin x="43" y="6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10/29/2026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8.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9.jp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Example Slide Title</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pPr marL="0" indent="0">
              <a:buNone/>
            </a:pPr>
            <a:r>
              <a:rPr lang="en-US" sz="2400" dirty="0"/>
              <a:t>Example slide body.</a:t>
            </a:r>
          </a:p>
        </p:txBody>
      </p:sp>
    </p:spTree>
    <p:extLst>
      <p:ext uri="{BB962C8B-B14F-4D97-AF65-F5344CB8AC3E}">
        <p14:creationId xmlns:p14="http://schemas.microsoft.com/office/powerpoint/2010/main" val="6817751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Input and output</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r>
              <a:rPr lang="en-US" sz="2400" dirty="0"/>
              <a:t>Reference Images</a:t>
            </a:r>
          </a:p>
          <a:p>
            <a:pPr lvl="1"/>
            <a:r>
              <a:rPr lang="en-US" sz="2400" dirty="0"/>
              <a:t>Generate from a bird’s-eye view picture of an intersection</a:t>
            </a:r>
          </a:p>
          <a:p>
            <a:pPr lvl="1"/>
            <a:r>
              <a:rPr lang="en-US" sz="2400" dirty="0"/>
              <a:t>Insert an image to build on</a:t>
            </a:r>
          </a:p>
          <a:p>
            <a:r>
              <a:rPr lang="en-US" sz="2400" dirty="0"/>
              <a:t>Save Designs</a:t>
            </a:r>
          </a:p>
          <a:p>
            <a:pPr lvl="1"/>
            <a:r>
              <a:rPr lang="en-US" sz="2400" dirty="0"/>
              <a:t>Simulation runs are saved with the design</a:t>
            </a:r>
          </a:p>
          <a:p>
            <a:pPr lvl="1"/>
            <a:r>
              <a:rPr lang="en-US" sz="2400" dirty="0"/>
              <a:t>Compare designs and associated simulation results</a:t>
            </a:r>
          </a:p>
          <a:p>
            <a:r>
              <a:rPr lang="en-US" sz="2400" dirty="0"/>
              <a:t>Data Export</a:t>
            </a:r>
          </a:p>
          <a:p>
            <a:pPr lvl="1"/>
            <a:r>
              <a:rPr lang="en-US" sz="2400" dirty="0"/>
              <a:t>Export simulation results to CSV</a:t>
            </a:r>
          </a:p>
          <a:p>
            <a:pPr lvl="1"/>
            <a:endParaRPr lang="en-US" sz="2400" dirty="0"/>
          </a:p>
        </p:txBody>
      </p:sp>
    </p:spTree>
    <p:extLst>
      <p:ext uri="{BB962C8B-B14F-4D97-AF65-F5344CB8AC3E}">
        <p14:creationId xmlns:p14="http://schemas.microsoft.com/office/powerpoint/2010/main" val="17717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800" b="0" cap="none" spc="0" dirty="0">
                <a:solidFill>
                  <a:srgbClr val="444742"/>
                </a:solidFill>
                <a:latin typeface="Univers Condensed Light"/>
              </a:rPr>
              <a:t>Traffic Video Input</a:t>
            </a:r>
            <a:endParaRPr kumimoji="0" lang="en-US" sz="2800" b="0" i="0" u="none" strike="noStrike" kern="1200" cap="none" spc="0" normalizeH="0" baseline="0" noProof="0" dirty="0">
              <a:ln>
                <a:noFill/>
              </a:ln>
              <a:solidFill>
                <a:srgbClr val="444742"/>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t>Analyze a Provided Video</a:t>
            </a:r>
          </a:p>
          <a:p>
            <a:pPr lvl="1"/>
            <a:r>
              <a:rPr lang="en-US" sz="2400" dirty="0"/>
              <a:t>User Efficiency Tool</a:t>
            </a:r>
          </a:p>
          <a:p>
            <a:r>
              <a:rPr lang="en-US" sz="2400" dirty="0"/>
              <a:t>Determine Traffic Data</a:t>
            </a:r>
          </a:p>
          <a:p>
            <a:pPr lvl="1"/>
            <a:r>
              <a:rPr lang="en-US" sz="2400" dirty="0"/>
              <a:t>Traffic Flow Directions</a:t>
            </a:r>
          </a:p>
          <a:p>
            <a:pPr lvl="1"/>
            <a:r>
              <a:rPr lang="en-US" sz="2400" dirty="0"/>
              <a:t>Traffic Density</a:t>
            </a:r>
          </a:p>
          <a:p>
            <a:r>
              <a:rPr lang="en-US" sz="2400" dirty="0"/>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Add </a:t>
            </a:r>
            <a:r>
              <a:rPr lang="en-US" sz="2400" dirty="0">
                <a:solidFill>
                  <a:srgbClr val="444742"/>
                </a:solidFill>
                <a:latin typeface="Univers Condensed Light"/>
              </a:rPr>
              <a:t>Limited Elevation Control to Simulation</a:t>
            </a:r>
          </a:p>
          <a:p>
            <a:pPr lvl="1">
              <a:spcBef>
                <a:spcPts val="1000"/>
              </a:spcBef>
              <a:defRPr/>
            </a:pPr>
            <a:r>
              <a:rPr lang="en-US" sz="2400" dirty="0">
                <a:solidFill>
                  <a:srgbClr val="444742"/>
                </a:solidFill>
                <a:latin typeface="Univers Condensed Light"/>
              </a:rPr>
              <a:t>Overpasses</a:t>
            </a:r>
          </a:p>
          <a:p>
            <a:pPr lvl="1">
              <a:spcBef>
                <a:spcPts val="1000"/>
              </a:spcBef>
              <a:defRPr/>
            </a:pPr>
            <a:r>
              <a:rPr lang="en-US" sz="2400" dirty="0">
                <a:solidFill>
                  <a:srgbClr val="444742"/>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Useful for</a:t>
            </a:r>
            <a:r>
              <a:rPr lang="en-US" sz="2400" dirty="0">
                <a:solidFill>
                  <a:srgbClr val="444742"/>
                </a:solidFill>
                <a:latin typeface="Univers Condensed Light"/>
              </a:rPr>
              <a:t> Highway Intersections</a:t>
            </a:r>
          </a:p>
          <a:p>
            <a:pPr lvl="1">
              <a:spcBef>
                <a:spcPts val="1000"/>
              </a:spcBef>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Dog</a:t>
            </a:r>
            <a:r>
              <a:rPr lang="en-US" sz="2400" dirty="0">
                <a:solidFill>
                  <a:srgbClr val="444742"/>
                </a:solidFill>
                <a:latin typeface="Univers Condensed Light"/>
              </a:rPr>
              <a:t>bone Interchange</a:t>
            </a:r>
            <a:endParaRPr kumimoji="0" lang="en-US" sz="2400" b="0" i="0" u="none" strike="noStrike" kern="1200" cap="none" spc="0" normalizeH="0" baseline="0" noProof="0" dirty="0">
              <a:ln>
                <a:noFill/>
              </a:ln>
              <a:solidFill>
                <a:srgbClr val="444742"/>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t>Algorithm Testing Common Intersections</a:t>
            </a:r>
          </a:p>
          <a:p>
            <a:pPr lvl="1"/>
            <a:r>
              <a:rPr lang="en-US" sz="2400" dirty="0"/>
              <a:t>Intersection Types Predetermined</a:t>
            </a:r>
          </a:p>
          <a:p>
            <a:r>
              <a:rPr lang="en-US" sz="2400" dirty="0"/>
              <a:t>Uses Simulation Feature</a:t>
            </a:r>
          </a:p>
          <a:p>
            <a:r>
              <a:rPr lang="en-US" sz="2400" dirty="0"/>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rgbClr val="444742"/>
                </a:solidFill>
                <a:latin typeface="Univers Condensed Light"/>
              </a:rPr>
              <a:t>More Than One Type of Actor</a:t>
            </a:r>
          </a:p>
          <a:p>
            <a:pPr>
              <a:defRPr/>
            </a:pPr>
            <a:r>
              <a:rPr lang="en-US" sz="2400" dirty="0">
                <a:solidFill>
                  <a:srgbClr val="444742"/>
                </a:solidFill>
                <a:latin typeface="Univers Condensed Light"/>
              </a:rPr>
              <a:t>Differing Behavior</a:t>
            </a:r>
            <a:endParaRPr lang="en-US" sz="2800" dirty="0">
              <a:solidFill>
                <a:srgbClr val="444742"/>
              </a:solidFill>
              <a:latin typeface="Univers Condensed Light"/>
            </a:endParaRPr>
          </a:p>
          <a:p>
            <a:pPr lvl="1">
              <a:spcBef>
                <a:spcPts val="1000"/>
              </a:spcBef>
              <a:defRPr/>
            </a:pPr>
            <a:r>
              <a:rPr lang="en-US" sz="2400" dirty="0">
                <a:solidFill>
                  <a:srgbClr val="444742"/>
                </a:solidFill>
                <a:latin typeface="Univers Condensed Light"/>
              </a:rPr>
              <a:t>Speed</a:t>
            </a:r>
          </a:p>
          <a:p>
            <a:pPr lvl="1">
              <a:spcBef>
                <a:spcPts val="1000"/>
              </a:spcBef>
              <a:defRPr/>
            </a:pPr>
            <a:r>
              <a:rPr lang="en-US" sz="2400" dirty="0">
                <a:solidFill>
                  <a:srgbClr val="444742"/>
                </a:solidFill>
                <a:latin typeface="Univers Condensed Light"/>
              </a:rPr>
              <a:t>Awareness</a:t>
            </a:r>
          </a:p>
          <a:p>
            <a:pPr lvl="1">
              <a:spcBef>
                <a:spcPts val="1000"/>
              </a:spcBef>
              <a:defRPr/>
            </a:pPr>
            <a:r>
              <a:rPr lang="en-US" sz="2400" dirty="0">
                <a:solidFill>
                  <a:srgbClr val="444742"/>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1673"/>
            <a:ext cx="5372100" cy="3581400"/>
          </a:xfrm>
          <a:prstGeom prst="rect">
            <a:avLst/>
          </a:prstGeom>
        </p:spPr>
      </p:pic>
    </p:spTree>
    <p:extLst>
      <p:ext uri="{BB962C8B-B14F-4D97-AF65-F5344CB8AC3E}">
        <p14:creationId xmlns:p14="http://schemas.microsoft.com/office/powerpoint/2010/main" val="2043908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3537"/>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331049"/>
            <a:ext cx="4620091" cy="4443218"/>
          </a:xfrm>
        </p:spPr>
        <p:txBody>
          <a:bodyPr>
            <a:normAutofit fontScale="92500" lnSpcReduction="10000"/>
          </a:bodyPr>
          <a:lstStyle/>
          <a:p>
            <a:pPr marL="0" indent="0">
              <a:buNone/>
            </a:pPr>
            <a:r>
              <a:rPr lang="en-US" sz="2400" dirty="0"/>
              <a:t>The simulation will be able to output performance metrics that show how well the intersection performed under varying amounts of load. </a:t>
            </a:r>
          </a:p>
          <a:p>
            <a:pPr marL="0" indent="0">
              <a:buNone/>
            </a:pPr>
            <a:r>
              <a:rPr lang="en-US" sz="2400" dirty="0"/>
              <a:t>Possible metrics:</a:t>
            </a:r>
          </a:p>
          <a:p>
            <a:pPr lvl="1"/>
            <a:r>
              <a:rPr lang="en-US" sz="2400" dirty="0"/>
              <a:t>Wait time</a:t>
            </a:r>
          </a:p>
          <a:p>
            <a:pPr lvl="1"/>
            <a:r>
              <a:rPr lang="en-US" sz="2400" dirty="0"/>
              <a:t>Speed</a:t>
            </a:r>
          </a:p>
          <a:p>
            <a:pPr lvl="1"/>
            <a:r>
              <a:rPr lang="en-US" sz="2400" dirty="0"/>
              <a:t>Number of vehicles through per amount of time</a:t>
            </a:r>
          </a:p>
          <a:p>
            <a:pPr lvl="1"/>
            <a:r>
              <a:rPr lang="en-US" sz="2400" dirty="0"/>
              <a:t>Queue length</a:t>
            </a:r>
          </a:p>
        </p:txBody>
      </p:sp>
    </p:spTree>
    <p:extLst>
      <p:ext uri="{BB962C8B-B14F-4D97-AF65-F5344CB8AC3E}">
        <p14:creationId xmlns:p14="http://schemas.microsoft.com/office/powerpoint/2010/main" val="2321807993"/>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150</TotalTime>
  <Words>249</Words>
  <Application>Microsoft Office PowerPoint</Application>
  <PresentationFormat>Widescreen</PresentationFormat>
  <Paragraphs>53</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Oswald SemiBold</vt:lpstr>
      <vt:lpstr>Univers Condensed Light</vt:lpstr>
      <vt:lpstr>Orange Experience</vt:lpstr>
      <vt:lpstr>Traffic Control Simulator</vt:lpstr>
      <vt:lpstr>Example Slide Title</vt:lpstr>
      <vt:lpstr>Input and output</vt:lpstr>
      <vt:lpstr>Stretch Goals: Part I</vt:lpstr>
      <vt:lpstr>Stretch Goals: Part II</vt:lpstr>
      <vt:lpstr>Signal timing controls</vt:lpstr>
      <vt:lpstr>Adjustable traffic volume</vt:lpstr>
      <vt:lpstr>Performance metrics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Andrew Saigo</cp:lastModifiedBy>
  <cp:revision>6</cp:revision>
  <dcterms:created xsi:type="dcterms:W3CDTF">2026-10-28T00:52:55Z</dcterms:created>
  <dcterms:modified xsi:type="dcterms:W3CDTF">2026-10-29T07:11:28Z</dcterms:modified>
</cp:coreProperties>
</file>