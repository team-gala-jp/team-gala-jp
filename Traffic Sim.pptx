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4" r:id="rId3"/>
    <p:sldId id="265" r:id="rId4"/>
    <p:sldId id="266" r:id="rId5"/>
    <p:sldId id="257" r:id="rId6"/>
    <p:sldId id="258" r:id="rId7"/>
    <p:sldId id="259" r:id="rId8"/>
    <p:sldId id="263" r:id="rId9"/>
    <p:sldId id="261"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10/29/2026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10.jp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11.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C6F8D-F38C-9801-5ADC-D11444ACB582}"/>
              </a:ext>
            </a:extLst>
          </p:cNvPr>
          <p:cNvSpPr>
            <a:spLocks noGrp="1"/>
          </p:cNvSpPr>
          <p:nvPr>
            <p:ph type="title"/>
          </p:nvPr>
        </p:nvSpPr>
        <p:spPr>
          <a:xfrm>
            <a:off x="445477" y="282317"/>
            <a:ext cx="6066927" cy="859491"/>
          </a:xfrm>
        </p:spPr>
        <p:txBody>
          <a:bodyPr>
            <a:normAutofit/>
          </a:bodyPr>
          <a:lstStyle/>
          <a:p>
            <a:r>
              <a:rPr lang="en-US" sz="4000" dirty="0">
                <a:solidFill>
                  <a:schemeClr val="tx1"/>
                </a:solidFill>
              </a:rPr>
              <a:t>2d Intersection Builder</a:t>
            </a:r>
          </a:p>
        </p:txBody>
      </p:sp>
      <p:sp>
        <p:nvSpPr>
          <p:cNvPr id="3" name="Content Placeholder 2">
            <a:extLst>
              <a:ext uri="{FF2B5EF4-FFF2-40B4-BE49-F238E27FC236}">
                <a16:creationId xmlns:a16="http://schemas.microsoft.com/office/drawing/2014/main" id="{82F72F78-AB0B-5033-5262-0A04BEC8EC30}"/>
              </a:ext>
            </a:extLst>
          </p:cNvPr>
          <p:cNvSpPr>
            <a:spLocks noGrp="1"/>
          </p:cNvSpPr>
          <p:nvPr>
            <p:ph idx="1"/>
          </p:nvPr>
        </p:nvSpPr>
        <p:spPr>
          <a:xfrm>
            <a:off x="445478" y="1256704"/>
            <a:ext cx="4314092" cy="4344592"/>
          </a:xfrm>
        </p:spPr>
        <p:txBody>
          <a:bodyPr>
            <a:noAutofit/>
          </a:bodyPr>
          <a:lstStyle/>
          <a:p>
            <a:pPr marL="0" indent="0">
              <a:buNone/>
            </a:pPr>
            <a:r>
              <a:rPr lang="en-US" sz="2400" dirty="0">
                <a:solidFill>
                  <a:schemeClr val="tx1"/>
                </a:solidFill>
              </a:rPr>
              <a:t>Users will be able to build an intersection by dragging and dropping components in the sandbox</a:t>
            </a:r>
          </a:p>
          <a:p>
            <a:pPr>
              <a:lnSpc>
                <a:spcPct val="200000"/>
              </a:lnSpc>
            </a:pPr>
            <a:r>
              <a:rPr lang="en-US" sz="2400" dirty="0">
                <a:solidFill>
                  <a:schemeClr val="tx1"/>
                </a:solidFill>
              </a:rPr>
              <a:t>4-way, Roundabouts, T-intersection, etc.</a:t>
            </a:r>
          </a:p>
          <a:p>
            <a:pPr>
              <a:lnSpc>
                <a:spcPct val="200000"/>
              </a:lnSpc>
            </a:pPr>
            <a:r>
              <a:rPr lang="en-US" sz="2400" dirty="0">
                <a:solidFill>
                  <a:schemeClr val="tx1"/>
                </a:solidFill>
              </a:rPr>
              <a:t>Signals, stop/yield signs</a:t>
            </a:r>
          </a:p>
          <a:p>
            <a:pPr>
              <a:lnSpc>
                <a:spcPct val="200000"/>
              </a:lnSpc>
            </a:pPr>
            <a:r>
              <a:rPr lang="en-US" sz="2400" dirty="0">
                <a:solidFill>
                  <a:schemeClr val="tx1"/>
                </a:solidFill>
              </a:rPr>
              <a:t>Configure lanes and speed limits</a:t>
            </a:r>
          </a:p>
        </p:txBody>
      </p:sp>
      <p:sp>
        <p:nvSpPr>
          <p:cNvPr id="9" name="Rectangle 8">
            <a:extLst>
              <a:ext uri="{FF2B5EF4-FFF2-40B4-BE49-F238E27FC236}">
                <a16:creationId xmlns:a16="http://schemas.microsoft.com/office/drawing/2014/main" id="{7B76EB77-87C3-A564-4731-09D1E360D9BF}"/>
              </a:ext>
            </a:extLst>
          </p:cNvPr>
          <p:cNvSpPr/>
          <p:nvPr/>
        </p:nvSpPr>
        <p:spPr>
          <a:xfrm>
            <a:off x="4759569" y="1710212"/>
            <a:ext cx="6830097" cy="38910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icture 12">
            <a:extLst>
              <a:ext uri="{FF2B5EF4-FFF2-40B4-BE49-F238E27FC236}">
                <a16:creationId xmlns:a16="http://schemas.microsoft.com/office/drawing/2014/main" id="{2C7ECBA5-50F0-90BB-67CE-F76B8C842B8E}"/>
              </a:ext>
            </a:extLst>
          </p:cNvPr>
          <p:cNvPicPr>
            <a:picLocks noChangeAspect="1"/>
          </p:cNvPicPr>
          <p:nvPr/>
        </p:nvPicPr>
        <p:blipFill>
          <a:blip r:embed="rId2"/>
          <a:stretch>
            <a:fillRect/>
          </a:stretch>
        </p:blipFill>
        <p:spPr>
          <a:xfrm>
            <a:off x="4759568" y="1710212"/>
            <a:ext cx="6830097" cy="3891085"/>
          </a:xfrm>
          <a:prstGeom prst="rect">
            <a:avLst/>
          </a:prstGeom>
        </p:spPr>
      </p:pic>
    </p:spTree>
    <p:extLst>
      <p:ext uri="{BB962C8B-B14F-4D97-AF65-F5344CB8AC3E}">
        <p14:creationId xmlns:p14="http://schemas.microsoft.com/office/powerpoint/2010/main" val="225672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5FCF2-3F5B-9C69-21C6-5A8B4345647C}"/>
              </a:ext>
            </a:extLst>
          </p:cNvPr>
          <p:cNvSpPr>
            <a:spLocks noGrp="1"/>
          </p:cNvSpPr>
          <p:nvPr>
            <p:ph type="title"/>
          </p:nvPr>
        </p:nvSpPr>
        <p:spPr>
          <a:xfrm>
            <a:off x="603504" y="430047"/>
            <a:ext cx="4939005" cy="711761"/>
          </a:xfrm>
        </p:spPr>
        <p:txBody>
          <a:bodyPr>
            <a:noAutofit/>
          </a:bodyPr>
          <a:lstStyle/>
          <a:p>
            <a:r>
              <a:rPr lang="en-US" sz="4000" dirty="0">
                <a:solidFill>
                  <a:schemeClr val="tx1"/>
                </a:solidFill>
              </a:rPr>
              <a:t>Vehicle simulation</a:t>
            </a:r>
          </a:p>
        </p:txBody>
      </p:sp>
      <p:sp>
        <p:nvSpPr>
          <p:cNvPr id="3" name="Content Placeholder 2">
            <a:extLst>
              <a:ext uri="{FF2B5EF4-FFF2-40B4-BE49-F238E27FC236}">
                <a16:creationId xmlns:a16="http://schemas.microsoft.com/office/drawing/2014/main" id="{B0D3B147-8CDA-FF53-1E9D-8D0C6AB90382}"/>
              </a:ext>
            </a:extLst>
          </p:cNvPr>
          <p:cNvSpPr>
            <a:spLocks noGrp="1"/>
          </p:cNvSpPr>
          <p:nvPr>
            <p:ph idx="1"/>
          </p:nvPr>
        </p:nvSpPr>
        <p:spPr>
          <a:xfrm>
            <a:off x="497997" y="1277814"/>
            <a:ext cx="6698045" cy="5486401"/>
          </a:xfrm>
        </p:spPr>
        <p:txBody>
          <a:bodyPr>
            <a:normAutofit/>
          </a:bodyPr>
          <a:lstStyle/>
          <a:p>
            <a:pPr marL="0" indent="0">
              <a:lnSpc>
                <a:spcPct val="110000"/>
              </a:lnSpc>
              <a:buNone/>
            </a:pPr>
            <a:r>
              <a:rPr lang="en-US" sz="2400" dirty="0">
                <a:solidFill>
                  <a:schemeClr val="tx1"/>
                </a:solidFill>
              </a:rPr>
              <a:t>Simulation shows individual cars moving through an intersection, allowing users to view how a design will handle traffic</a:t>
            </a:r>
          </a:p>
          <a:p>
            <a:pPr>
              <a:lnSpc>
                <a:spcPct val="200000"/>
              </a:lnSpc>
            </a:pPr>
            <a:r>
              <a:rPr lang="en-US" sz="2400" dirty="0">
                <a:solidFill>
                  <a:schemeClr val="tx1"/>
                </a:solidFill>
              </a:rPr>
              <a:t>Basic Driver Behavior Model</a:t>
            </a:r>
          </a:p>
          <a:p>
            <a:pPr>
              <a:lnSpc>
                <a:spcPct val="200000"/>
              </a:lnSpc>
            </a:pPr>
            <a:r>
              <a:rPr lang="en-US" sz="2400" dirty="0">
                <a:solidFill>
                  <a:schemeClr val="tx1"/>
                </a:solidFill>
              </a:rPr>
              <a:t>Variation between drivers</a:t>
            </a:r>
          </a:p>
          <a:p>
            <a:pPr>
              <a:lnSpc>
                <a:spcPct val="200000"/>
              </a:lnSpc>
            </a:pPr>
            <a:r>
              <a:rPr lang="en-US" sz="2400" dirty="0">
                <a:solidFill>
                  <a:schemeClr val="tx1"/>
                </a:solidFill>
              </a:rPr>
              <a:t>Cars abide by traffic rules</a:t>
            </a:r>
          </a:p>
          <a:p>
            <a:pPr>
              <a:lnSpc>
                <a:spcPct val="200000"/>
              </a:lnSpc>
            </a:pPr>
            <a:r>
              <a:rPr lang="en-US" sz="2400" dirty="0">
                <a:solidFill>
                  <a:schemeClr val="tx1"/>
                </a:solidFill>
              </a:rPr>
              <a:t>Adjustable simulation speed (1.0x, 2.0x)</a:t>
            </a:r>
          </a:p>
          <a:p>
            <a:pPr marL="0" indent="0">
              <a:lnSpc>
                <a:spcPct val="110000"/>
              </a:lnSpc>
              <a:buNone/>
            </a:pPr>
            <a:endParaRPr lang="en-US" sz="2400" dirty="0"/>
          </a:p>
        </p:txBody>
      </p:sp>
      <p:pic>
        <p:nvPicPr>
          <p:cNvPr id="6" name="Picture 5">
            <a:extLst>
              <a:ext uri="{FF2B5EF4-FFF2-40B4-BE49-F238E27FC236}">
                <a16:creationId xmlns:a16="http://schemas.microsoft.com/office/drawing/2014/main" id="{4420634E-CD22-082D-26B6-1ADAF1C00F1D}"/>
              </a:ext>
            </a:extLst>
          </p:cNvPr>
          <p:cNvPicPr>
            <a:picLocks noChangeAspect="1"/>
          </p:cNvPicPr>
          <p:nvPr/>
        </p:nvPicPr>
        <p:blipFill>
          <a:blip r:embed="rId2"/>
          <a:stretch>
            <a:fillRect/>
          </a:stretch>
        </p:blipFill>
        <p:spPr>
          <a:xfrm>
            <a:off x="5416061" y="2151090"/>
            <a:ext cx="5908431" cy="4049700"/>
          </a:xfrm>
          <a:prstGeom prst="rect">
            <a:avLst/>
          </a:prstGeom>
        </p:spPr>
      </p:pic>
    </p:spTree>
    <p:extLst>
      <p:ext uri="{BB962C8B-B14F-4D97-AF65-F5344CB8AC3E}">
        <p14:creationId xmlns:p14="http://schemas.microsoft.com/office/powerpoint/2010/main" val="2797149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E47CC-32B9-E0D1-F54F-0E22AFC00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1030CE-DF29-D24E-4FC5-85CF61BAE326}"/>
              </a:ext>
            </a:extLst>
          </p:cNvPr>
          <p:cNvSpPr>
            <a:spLocks noGrp="1"/>
          </p:cNvSpPr>
          <p:nvPr>
            <p:ph type="title"/>
          </p:nvPr>
        </p:nvSpPr>
        <p:spPr>
          <a:xfrm>
            <a:off x="521208" y="373452"/>
            <a:ext cx="7214616" cy="711761"/>
          </a:xfrm>
        </p:spPr>
        <p:txBody>
          <a:bodyPr>
            <a:noAutofit/>
          </a:bodyPr>
          <a:lstStyle/>
          <a:p>
            <a:r>
              <a:rPr lang="en-US" sz="4000" dirty="0">
                <a:solidFill>
                  <a:schemeClr val="tx1"/>
                </a:solidFill>
              </a:rPr>
              <a:t>Basic pedestrian support</a:t>
            </a:r>
          </a:p>
        </p:txBody>
      </p:sp>
      <p:sp>
        <p:nvSpPr>
          <p:cNvPr id="3" name="Content Placeholder 2">
            <a:extLst>
              <a:ext uri="{FF2B5EF4-FFF2-40B4-BE49-F238E27FC236}">
                <a16:creationId xmlns:a16="http://schemas.microsoft.com/office/drawing/2014/main" id="{5289754C-7375-1EF6-8EB1-47E363F15610}"/>
              </a:ext>
            </a:extLst>
          </p:cNvPr>
          <p:cNvSpPr>
            <a:spLocks noGrp="1"/>
          </p:cNvSpPr>
          <p:nvPr>
            <p:ph idx="1"/>
          </p:nvPr>
        </p:nvSpPr>
        <p:spPr>
          <a:xfrm>
            <a:off x="689721" y="1162993"/>
            <a:ext cx="5961420" cy="1266094"/>
          </a:xfrm>
        </p:spPr>
        <p:txBody>
          <a:bodyPr>
            <a:normAutofit/>
          </a:bodyPr>
          <a:lstStyle/>
          <a:p>
            <a:pPr marL="0" indent="0">
              <a:lnSpc>
                <a:spcPct val="110000"/>
              </a:lnSpc>
              <a:buNone/>
            </a:pPr>
            <a:r>
              <a:rPr lang="en-US" sz="2400" dirty="0">
                <a:solidFill>
                  <a:schemeClr val="tx1"/>
                </a:solidFill>
              </a:rPr>
              <a:t>Pedestrians cross at marked crosswalks, allowing for designs to account for people walking as well</a:t>
            </a:r>
          </a:p>
        </p:txBody>
      </p:sp>
      <p:pic>
        <p:nvPicPr>
          <p:cNvPr id="5" name="Picture 4">
            <a:extLst>
              <a:ext uri="{FF2B5EF4-FFF2-40B4-BE49-F238E27FC236}">
                <a16:creationId xmlns:a16="http://schemas.microsoft.com/office/drawing/2014/main" id="{D570D93D-31A1-D503-EE12-3328B06FA7C2}"/>
              </a:ext>
            </a:extLst>
          </p:cNvPr>
          <p:cNvPicPr>
            <a:picLocks noChangeAspect="1"/>
          </p:cNvPicPr>
          <p:nvPr/>
        </p:nvPicPr>
        <p:blipFill>
          <a:blip r:embed="rId2"/>
          <a:stretch>
            <a:fillRect/>
          </a:stretch>
        </p:blipFill>
        <p:spPr>
          <a:xfrm>
            <a:off x="689721" y="2283066"/>
            <a:ext cx="4578096" cy="3845601"/>
          </a:xfrm>
          <a:prstGeom prst="rect">
            <a:avLst/>
          </a:prstGeom>
        </p:spPr>
      </p:pic>
      <p:sp>
        <p:nvSpPr>
          <p:cNvPr id="7" name="Content Placeholder 2">
            <a:extLst>
              <a:ext uri="{FF2B5EF4-FFF2-40B4-BE49-F238E27FC236}">
                <a16:creationId xmlns:a16="http://schemas.microsoft.com/office/drawing/2014/main" id="{FC7FE8F6-E067-9E73-40B8-1B51BDD046A5}"/>
              </a:ext>
            </a:extLst>
          </p:cNvPr>
          <p:cNvSpPr txBox="1">
            <a:spLocks/>
          </p:cNvSpPr>
          <p:nvPr/>
        </p:nvSpPr>
        <p:spPr>
          <a:xfrm>
            <a:off x="5911845" y="2162906"/>
            <a:ext cx="4278036" cy="126609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Font typeface="Arial" panose="020B0604020202020204" pitchFamily="34" charset="0"/>
              <a:buNone/>
            </a:pPr>
            <a:endParaRPr lang="en-US" sz="2400" dirty="0"/>
          </a:p>
        </p:txBody>
      </p:sp>
      <p:sp>
        <p:nvSpPr>
          <p:cNvPr id="8" name="TextBox 7">
            <a:extLst>
              <a:ext uri="{FF2B5EF4-FFF2-40B4-BE49-F238E27FC236}">
                <a16:creationId xmlns:a16="http://schemas.microsoft.com/office/drawing/2014/main" id="{D11D455F-97CC-6A05-6BED-2DDE520438CB}"/>
              </a:ext>
            </a:extLst>
          </p:cNvPr>
          <p:cNvSpPr txBox="1"/>
          <p:nvPr/>
        </p:nvSpPr>
        <p:spPr>
          <a:xfrm>
            <a:off x="5873556" y="2162906"/>
            <a:ext cx="5093911" cy="2936830"/>
          </a:xfrm>
          <a:prstGeom prst="rect">
            <a:avLst/>
          </a:prstGeom>
          <a:noFill/>
        </p:spPr>
        <p:txBody>
          <a:bodyPr wrap="square" rtlCol="0">
            <a:spAutoFit/>
          </a:bodyPr>
          <a:lstStyle/>
          <a:p>
            <a:pPr marL="342900" indent="-342900">
              <a:lnSpc>
                <a:spcPct val="200000"/>
              </a:lnSpc>
              <a:buFont typeface="Arial" panose="020B0604020202020204" pitchFamily="34" charset="0"/>
              <a:buChar char="•"/>
            </a:pPr>
            <a:r>
              <a:rPr lang="en-US" sz="2400" dirty="0"/>
              <a:t>Cars yield to pedestrians</a:t>
            </a:r>
          </a:p>
          <a:p>
            <a:pPr marL="342900" indent="-342900">
              <a:lnSpc>
                <a:spcPct val="200000"/>
              </a:lnSpc>
              <a:buFont typeface="Arial" panose="020B0604020202020204" pitchFamily="34" charset="0"/>
              <a:buChar char="•"/>
            </a:pPr>
            <a:r>
              <a:rPr lang="en-US" sz="2400" dirty="0"/>
              <a:t>Crosswalks with pedestrian volume</a:t>
            </a:r>
          </a:p>
          <a:p>
            <a:pPr marL="342900" indent="-342900">
              <a:lnSpc>
                <a:spcPct val="200000"/>
              </a:lnSpc>
              <a:buFont typeface="Arial" panose="020B0604020202020204" pitchFamily="34" charset="0"/>
              <a:buChar char="•"/>
            </a:pPr>
            <a:r>
              <a:rPr lang="en-US" sz="2400" dirty="0"/>
              <a:t>Busier crosswalk leading to longer queues for turning cars</a:t>
            </a:r>
          </a:p>
        </p:txBody>
      </p:sp>
    </p:spTree>
    <p:extLst>
      <p:ext uri="{BB962C8B-B14F-4D97-AF65-F5344CB8AC3E}">
        <p14:creationId xmlns:p14="http://schemas.microsoft.com/office/powerpoint/2010/main" val="3291835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331049"/>
            <a:ext cx="5372100" cy="3581400"/>
          </a:xfrm>
          <a:prstGeom prst="rect">
            <a:avLst/>
          </a:prstGeom>
        </p:spPr>
      </p:pic>
    </p:spTree>
    <p:extLst>
      <p:ext uri="{BB962C8B-B14F-4D97-AF65-F5344CB8AC3E}">
        <p14:creationId xmlns:p14="http://schemas.microsoft.com/office/powerpoint/2010/main" val="204390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331049"/>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703308"/>
            <a:ext cx="4620091" cy="4443218"/>
          </a:xfrm>
        </p:spPr>
        <p:txBody>
          <a:bodyPr>
            <a:noAutofit/>
          </a:bodyPr>
          <a:lstStyle/>
          <a:p>
            <a:pPr marL="0" indent="0">
              <a:buNone/>
            </a:pPr>
            <a:r>
              <a:rPr lang="en-US" sz="2400" dirty="0">
                <a:solidFill>
                  <a:schemeClr val="tx1"/>
                </a:solidFill>
              </a:rPr>
              <a:t>The simulation will be able to output performance metrics that show how well the intersection performed under varying amounts of load. </a:t>
            </a:r>
          </a:p>
          <a:p>
            <a:pPr marL="0" indent="0">
              <a:buNone/>
            </a:pPr>
            <a:endParaRPr lang="en-US" sz="2400" dirty="0">
              <a:solidFill>
                <a:schemeClr val="tx1"/>
              </a:solidFill>
            </a:endParaRPr>
          </a:p>
        </p:txBody>
      </p:sp>
      <p:sp>
        <p:nvSpPr>
          <p:cNvPr id="4" name="Content Placeholder 2">
            <a:extLst>
              <a:ext uri="{FF2B5EF4-FFF2-40B4-BE49-F238E27FC236}">
                <a16:creationId xmlns:a16="http://schemas.microsoft.com/office/drawing/2014/main" id="{E582AC7C-F2E1-C0B9-7226-D44C380E013C}"/>
              </a:ext>
            </a:extLst>
          </p:cNvPr>
          <p:cNvSpPr txBox="1">
            <a:spLocks/>
          </p:cNvSpPr>
          <p:nvPr/>
        </p:nvSpPr>
        <p:spPr>
          <a:xfrm>
            <a:off x="6254496" y="1333205"/>
            <a:ext cx="4620091" cy="4443218"/>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solidFill>
                  <a:schemeClr val="tx1"/>
                </a:solidFill>
              </a:rPr>
              <a:t>Possible metrics:</a:t>
            </a:r>
          </a:p>
          <a:p>
            <a:pPr lvl="1"/>
            <a:r>
              <a:rPr lang="en-US" sz="2400" dirty="0">
                <a:solidFill>
                  <a:schemeClr val="tx1"/>
                </a:solidFill>
              </a:rPr>
              <a:t>Wait time</a:t>
            </a:r>
          </a:p>
          <a:p>
            <a:pPr lvl="1"/>
            <a:r>
              <a:rPr lang="en-US" sz="2400" dirty="0">
                <a:solidFill>
                  <a:schemeClr val="tx1"/>
                </a:solidFill>
              </a:rPr>
              <a:t>Speed</a:t>
            </a:r>
          </a:p>
          <a:p>
            <a:pPr lvl="1"/>
            <a:r>
              <a:rPr lang="en-US" sz="2400" dirty="0">
                <a:solidFill>
                  <a:schemeClr val="tx1"/>
                </a:solidFill>
              </a:rPr>
              <a:t>Number of vehicles through per amount of time</a:t>
            </a:r>
          </a:p>
          <a:p>
            <a:pPr lvl="1"/>
            <a:r>
              <a:rPr lang="en-US" sz="2400" dirty="0">
                <a:solidFill>
                  <a:schemeClr val="tx1"/>
                </a:solidFill>
              </a:rPr>
              <a:t>Queue length</a:t>
            </a:r>
          </a:p>
        </p:txBody>
      </p:sp>
    </p:spTree>
    <p:extLst>
      <p:ext uri="{BB962C8B-B14F-4D97-AF65-F5344CB8AC3E}">
        <p14:creationId xmlns:p14="http://schemas.microsoft.com/office/powerpoint/2010/main" val="2321807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Input and output</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r>
              <a:rPr lang="en-US" sz="2400" dirty="0">
                <a:solidFill>
                  <a:schemeClr val="tx1"/>
                </a:solidFill>
              </a:rPr>
              <a:t>Reference Images</a:t>
            </a:r>
          </a:p>
          <a:p>
            <a:pPr lvl="1"/>
            <a:r>
              <a:rPr lang="en-US" sz="2400" dirty="0">
                <a:solidFill>
                  <a:schemeClr val="tx1"/>
                </a:solidFill>
              </a:rPr>
              <a:t>Generate from a bird’s-eye view picture of an intersection</a:t>
            </a:r>
          </a:p>
          <a:p>
            <a:pPr lvl="1"/>
            <a:r>
              <a:rPr lang="en-US" sz="2400" dirty="0">
                <a:solidFill>
                  <a:schemeClr val="tx1"/>
                </a:solidFill>
              </a:rPr>
              <a:t>Insert an image to build on</a:t>
            </a:r>
          </a:p>
          <a:p>
            <a:r>
              <a:rPr lang="en-US" sz="2400" dirty="0">
                <a:solidFill>
                  <a:schemeClr val="tx1"/>
                </a:solidFill>
              </a:rPr>
              <a:t>Save Designs</a:t>
            </a:r>
          </a:p>
          <a:p>
            <a:pPr lvl="1"/>
            <a:r>
              <a:rPr lang="en-US" sz="2400" dirty="0">
                <a:solidFill>
                  <a:schemeClr val="tx1"/>
                </a:solidFill>
              </a:rPr>
              <a:t>Simulation runs are saved with the design</a:t>
            </a:r>
          </a:p>
          <a:p>
            <a:pPr lvl="1"/>
            <a:r>
              <a:rPr lang="en-US" sz="2400" dirty="0">
                <a:solidFill>
                  <a:schemeClr val="tx1"/>
                </a:solidFill>
              </a:rPr>
              <a:t>Compare designs and associated simulation results</a:t>
            </a:r>
          </a:p>
          <a:p>
            <a:r>
              <a:rPr lang="en-US" sz="2400" dirty="0">
                <a:solidFill>
                  <a:schemeClr val="tx1"/>
                </a:solidFill>
              </a:rPr>
              <a:t>Data Export</a:t>
            </a:r>
          </a:p>
          <a:p>
            <a:pPr lvl="1"/>
            <a:r>
              <a:rPr lang="en-US" sz="2400" dirty="0">
                <a:solidFill>
                  <a:schemeClr val="tx1"/>
                </a:solidFill>
              </a:rPr>
              <a:t>Export simulation results to CSV</a:t>
            </a:r>
          </a:p>
          <a:p>
            <a:pPr lvl="1"/>
            <a:endParaRPr lang="en-US" sz="2400" dirty="0">
              <a:solidFill>
                <a:schemeClr val="tx1"/>
              </a:solidFill>
            </a:endParaRPr>
          </a:p>
        </p:txBody>
      </p:sp>
    </p:spTree>
    <p:extLst>
      <p:ext uri="{BB962C8B-B14F-4D97-AF65-F5344CB8AC3E}">
        <p14:creationId xmlns:p14="http://schemas.microsoft.com/office/powerpoint/2010/main" val="17717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400" cap="none" spc="0" dirty="0">
                <a:solidFill>
                  <a:schemeClr val="tx1"/>
                </a:solidFill>
                <a:latin typeface="Univers Condensed Light"/>
              </a:rPr>
              <a:t>Traffic Video Input</a:t>
            </a:r>
            <a:endParaRPr kumimoji="0" lang="en-US" sz="2400" i="0" u="none" strike="noStrike" kern="1200" cap="none" spc="0" normalizeH="0" baseline="0" noProof="0" dirty="0">
              <a:ln>
                <a:noFill/>
              </a:ln>
              <a:solidFill>
                <a:schemeClr val="tx1"/>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Analyze a Provided Video</a:t>
            </a:r>
          </a:p>
          <a:p>
            <a:pPr lvl="1">
              <a:buFont typeface="Courier New" panose="02070309020205020404" pitchFamily="49" charset="0"/>
              <a:buChar char="o"/>
            </a:pPr>
            <a:r>
              <a:rPr lang="en-US" sz="2400" dirty="0">
                <a:solidFill>
                  <a:schemeClr val="tx1"/>
                </a:solidFill>
              </a:rPr>
              <a:t>User Efficiency Tool</a:t>
            </a:r>
          </a:p>
          <a:p>
            <a:r>
              <a:rPr lang="en-US" sz="2400" dirty="0">
                <a:solidFill>
                  <a:schemeClr val="tx1"/>
                </a:solidFill>
              </a:rPr>
              <a:t>Determine Traffic Data</a:t>
            </a:r>
          </a:p>
          <a:p>
            <a:pPr lvl="1">
              <a:buFont typeface="Courier New" panose="02070309020205020404" pitchFamily="49" charset="0"/>
              <a:buChar char="o"/>
            </a:pPr>
            <a:r>
              <a:rPr lang="en-US" sz="2400" dirty="0">
                <a:solidFill>
                  <a:schemeClr val="tx1"/>
                </a:solidFill>
              </a:rPr>
              <a:t>Traffic Flow Directions</a:t>
            </a:r>
          </a:p>
          <a:p>
            <a:pPr lvl="1">
              <a:buFont typeface="Courier New" panose="02070309020205020404" pitchFamily="49" charset="0"/>
              <a:buChar char="o"/>
            </a:pPr>
            <a:r>
              <a:rPr lang="en-US" sz="2400" dirty="0">
                <a:solidFill>
                  <a:schemeClr val="tx1"/>
                </a:solidFill>
              </a:rPr>
              <a:t>Traffic Density</a:t>
            </a:r>
          </a:p>
          <a:p>
            <a:r>
              <a:rPr lang="en-US" sz="2400" dirty="0">
                <a:solidFill>
                  <a:schemeClr val="tx1"/>
                </a:solidFill>
              </a:rPr>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400" i="0" u="none" strike="noStrike" kern="1200" cap="none" spc="0" normalizeH="0" baseline="0" noProof="0" dirty="0">
                <a:ln>
                  <a:noFill/>
                </a:ln>
                <a:solidFill>
                  <a:schemeClr val="tx1"/>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Add </a:t>
            </a:r>
            <a:r>
              <a:rPr lang="en-US" sz="2400" dirty="0">
                <a:solidFill>
                  <a:schemeClr val="tx1"/>
                </a:solidFill>
                <a:latin typeface="Univers Condensed Light"/>
              </a:rPr>
              <a:t>Limited Elevation Control to Simulation</a:t>
            </a:r>
          </a:p>
          <a:p>
            <a:pPr lvl="1">
              <a:spcBef>
                <a:spcPts val="1000"/>
              </a:spcBef>
              <a:buFont typeface="Courier New" panose="02070309020205020404" pitchFamily="49" charset="0"/>
              <a:buChar char="o"/>
              <a:defRPr/>
            </a:pPr>
            <a:r>
              <a:rPr lang="en-US" sz="2400" dirty="0">
                <a:solidFill>
                  <a:schemeClr val="tx1"/>
                </a:solidFill>
                <a:latin typeface="Univers Condensed Light"/>
              </a:rPr>
              <a:t>Overpasses</a:t>
            </a:r>
          </a:p>
          <a:p>
            <a:pPr lvl="1">
              <a:spcBef>
                <a:spcPts val="1000"/>
              </a:spcBef>
              <a:buFont typeface="Courier New" panose="02070309020205020404" pitchFamily="49" charset="0"/>
              <a:buChar char="o"/>
              <a:defRPr/>
            </a:pPr>
            <a:r>
              <a:rPr lang="en-US" sz="2400" dirty="0">
                <a:solidFill>
                  <a:schemeClr val="tx1"/>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Useful for</a:t>
            </a:r>
            <a:r>
              <a:rPr lang="en-US" sz="2400" dirty="0">
                <a:solidFill>
                  <a:schemeClr val="tx1"/>
                </a:solidFill>
                <a:latin typeface="Univers Condensed Light"/>
              </a:rPr>
              <a:t> Highway Intersections</a:t>
            </a:r>
          </a:p>
          <a:p>
            <a:pPr lvl="1">
              <a:spcBef>
                <a:spcPts val="1000"/>
              </a:spcBef>
              <a:buFont typeface="Courier New" panose="02070309020205020404" pitchFamily="49" charset="0"/>
              <a:buChar char="o"/>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Dog</a:t>
            </a:r>
            <a:r>
              <a:rPr lang="en-US" sz="2400" dirty="0">
                <a:solidFill>
                  <a:schemeClr val="tx1"/>
                </a:solidFill>
                <a:latin typeface="Univers Condensed Light"/>
              </a:rPr>
              <a:t>bone Interchange</a:t>
            </a:r>
            <a:endParaRPr kumimoji="0" lang="en-US" sz="2400" b="0" i="0" u="none" strike="noStrike" kern="1200" cap="none" spc="0" normalizeH="0" baseline="0" noProof="0" dirty="0">
              <a:ln>
                <a:noFill/>
              </a:ln>
              <a:solidFill>
                <a:schemeClr val="tx1"/>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400" i="0" u="none" strike="noStrike" kern="1200" cap="none" spc="0" normalizeH="0" baseline="0" noProof="0" dirty="0">
                <a:ln>
                  <a:noFill/>
                </a:ln>
                <a:solidFill>
                  <a:schemeClr val="tx1"/>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Algorithm Testing Common Intersections</a:t>
            </a:r>
          </a:p>
          <a:p>
            <a:pPr lvl="1">
              <a:buFont typeface="Courier New" panose="02070309020205020404" pitchFamily="49" charset="0"/>
              <a:buChar char="o"/>
            </a:pPr>
            <a:r>
              <a:rPr lang="en-US" sz="2400" dirty="0">
                <a:solidFill>
                  <a:schemeClr val="tx1"/>
                </a:solidFill>
              </a:rPr>
              <a:t>Intersection Types Predetermined</a:t>
            </a:r>
          </a:p>
          <a:p>
            <a:r>
              <a:rPr lang="en-US" sz="2400" dirty="0">
                <a:solidFill>
                  <a:schemeClr val="tx1"/>
                </a:solidFill>
              </a:rPr>
              <a:t>Uses Simulation Feature</a:t>
            </a:r>
          </a:p>
          <a:p>
            <a:r>
              <a:rPr lang="en-US" sz="2400" dirty="0">
                <a:solidFill>
                  <a:schemeClr val="tx1"/>
                </a:solidFill>
              </a:rPr>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400" i="0" u="none" strike="noStrike" kern="1200" cap="none" spc="0" normalizeH="0" baseline="0" noProof="0" dirty="0">
                <a:ln>
                  <a:noFill/>
                </a:ln>
                <a:solidFill>
                  <a:schemeClr val="tx1"/>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chemeClr val="tx1"/>
                </a:solidFill>
                <a:latin typeface="Univers Condensed Light"/>
              </a:rPr>
              <a:t>More Than One Type of Actor</a:t>
            </a:r>
          </a:p>
          <a:p>
            <a:pPr>
              <a:defRPr/>
            </a:pPr>
            <a:r>
              <a:rPr lang="en-US" sz="2400" dirty="0">
                <a:solidFill>
                  <a:schemeClr val="tx1"/>
                </a:solidFill>
                <a:latin typeface="Univers Condensed Light"/>
              </a:rPr>
              <a:t>Differing Behavior</a:t>
            </a:r>
            <a:endParaRPr lang="en-US" sz="2800" dirty="0">
              <a:solidFill>
                <a:schemeClr val="tx1"/>
              </a:solidFill>
              <a:latin typeface="Univers Condensed Light"/>
            </a:endParaRPr>
          </a:p>
          <a:p>
            <a:pPr lvl="1">
              <a:spcBef>
                <a:spcPts val="1000"/>
              </a:spcBef>
              <a:buFont typeface="Courier New" panose="02070309020205020404" pitchFamily="49" charset="0"/>
              <a:buChar char="o"/>
              <a:defRPr/>
            </a:pPr>
            <a:r>
              <a:rPr lang="en-US" sz="2400" dirty="0">
                <a:solidFill>
                  <a:schemeClr val="tx1"/>
                </a:solidFill>
                <a:latin typeface="Univers Condensed Light"/>
              </a:rPr>
              <a:t>Speed</a:t>
            </a:r>
          </a:p>
          <a:p>
            <a:pPr lvl="1">
              <a:spcBef>
                <a:spcPts val="1000"/>
              </a:spcBef>
              <a:buFont typeface="Courier New" panose="02070309020205020404" pitchFamily="49" charset="0"/>
              <a:buChar char="o"/>
              <a:defRPr/>
            </a:pPr>
            <a:r>
              <a:rPr lang="en-US" sz="2400" dirty="0">
                <a:solidFill>
                  <a:schemeClr val="tx1"/>
                </a:solidFill>
                <a:latin typeface="Univers Condensed Light"/>
              </a:rPr>
              <a:t>Awareness</a:t>
            </a:r>
          </a:p>
          <a:p>
            <a:pPr lvl="1">
              <a:spcBef>
                <a:spcPts val="1000"/>
              </a:spcBef>
              <a:buFont typeface="Courier New" panose="02070309020205020404" pitchFamily="49" charset="0"/>
              <a:buChar char="o"/>
              <a:defRPr/>
            </a:pPr>
            <a:r>
              <a:rPr lang="en-US" sz="2400" dirty="0">
                <a:solidFill>
                  <a:schemeClr val="tx1"/>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162</TotalTime>
  <Words>357</Words>
  <Application>Microsoft Office PowerPoint</Application>
  <PresentationFormat>Widescreen</PresentationFormat>
  <Paragraphs>67</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Courier New</vt:lpstr>
      <vt:lpstr>Oswald SemiBold</vt:lpstr>
      <vt:lpstr>Univers Condensed Light</vt:lpstr>
      <vt:lpstr>Orange Experience</vt:lpstr>
      <vt:lpstr>Traffic Control Simulator</vt:lpstr>
      <vt:lpstr>2d Intersection Builder</vt:lpstr>
      <vt:lpstr>Vehicle simulation</vt:lpstr>
      <vt:lpstr>Basic pedestrian support</vt:lpstr>
      <vt:lpstr>Signal timing controls</vt:lpstr>
      <vt:lpstr>Adjustable traffic volume</vt:lpstr>
      <vt:lpstr>Performance metrics</vt:lpstr>
      <vt:lpstr>Input and output</vt:lpstr>
      <vt:lpstr>Stretch Goals: Part I</vt:lpstr>
      <vt:lpstr>Stretch Goals: Part II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Caden Palomares</cp:lastModifiedBy>
  <cp:revision>10</cp:revision>
  <dcterms:created xsi:type="dcterms:W3CDTF">2026-10-28T00:52:55Z</dcterms:created>
  <dcterms:modified xsi:type="dcterms:W3CDTF">2026-10-29T15:12:25Z</dcterms:modified>
</cp:coreProperties>
</file>